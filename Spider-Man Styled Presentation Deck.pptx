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Space Grotesk"/>
      <ns0:bold ns1:id="rIdFont20"/>
      <ns0:regular ns1:id="rIdFont21"/>
    </ns0:embeddedFont>
    <ns0:embeddedFont>
      <ns0:font typeface="Bangers"/>
      <ns0:bold ns1:id="rIdFont2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195fbc9c-d312-404b-8637-d1cf94daca60.fntdata" /><ns0:Relationship Id="rIdFont21" Type="http://schemas.openxmlformats.org/officeDocument/2006/relationships/font" Target="fonts/6a8a35e2-6d8c-4663-8390-428199ae4165.fntdata" /><ns0:Relationship Id="rIdFont22" Type="http://schemas.openxmlformats.org/officeDocument/2006/relationships/font" Target="fonts/84ca75ba-bccf-4fc9-9e1d-35df91c3a82d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C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7700" y="5695950"/>
            <a:ext cx="10896600" cy="5905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7700" y="571500"/>
            <a:ext cx="1666875" cy="314325"/>
          </a:xfrm>
          <a:prstGeom prst="roundRect">
            <a:avLst>
              <a:gd name="adj" fmla="val 12121"/>
            </a:avLst>
          </a:prstGeom>
          <a:solidFill>
            <a:srgbClr val="E62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" y="5695950"/>
            <a:ext cx="108966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71750" y="5948362"/>
            <a:ext cx="9525" cy="2857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0" y="1766887"/>
            <a:ext cx="4210050" cy="3048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6425" y="647700"/>
            <a:ext cx="17145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2825" y="1795462"/>
            <a:ext cx="4152900" cy="29908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0100" y="628650"/>
            <a:ext cx="14573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Space Grotesk"/>
              </a:rPr>
              <a:t>TRACK 07 · ED-01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96425" y="619125"/>
            <a:ext cx="2559843" cy="219075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0D2FF"/>
                </a:solidFill>
                <a:latin typeface="Space Grotesk"/>
              </a:rPr>
              <a:t>SPIDER-VERSE EDITION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2115591"/>
            <a:ext cx="778668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CC00"/>
                </a:solidFill>
                <a:latin typeface="Space Grotesk"/>
              </a:rPr>
              <a:t>WITH GREAT GUIDANCE COMES GREAT OPPORTUNITY!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2439441"/>
            <a:ext cx="6640830" cy="13028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130"/>
              </a:lnSpc>
              <a:defRPr/>
            </a:pPr>
            <a:r>
              <a:rPr b="1" sz="5400" i="0" u="none">
                <a:solidFill>
                  <a:srgbClr val="FFFFFF"/>
                </a:solidFill>
                <a:latin typeface="Bangers"/>
              </a:rPr>
              <a:t>PATHWISE: AI CAREER NAVIGATOR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3932783"/>
            <a:ext cx="60007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CBD5E1"/>
                </a:solidFill>
                <a:latin typeface="Space Grotesk"/>
              </a:rPr>
              <a:t>Swing through your skill gaps and build a personalized learning roadmap to launch your tech career with total confidence.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" y="5895975"/>
            <a:ext cx="20240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Space Grotesk"/>
              </a:rPr>
              <a:t>LEAD CREATOR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6067425"/>
            <a:ext cx="20240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Space Grotesk"/>
              </a:rPr>
              <a:t>Lakshya Shekhawat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6075" y="5895975"/>
            <a:ext cx="25360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Space Grotesk"/>
              </a:rPr>
              <a:t>TARGET DOMAIN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6075" y="6067425"/>
            <a:ext cx="253603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CC00"/>
                </a:solidFill>
                <a:latin typeface="Space Grotesk"/>
              </a:rPr>
              <a:t>EdTech &amp; Future of 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906000" y="571500"/>
            <a:ext cx="1638300" cy="28575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7700" y="2802433"/>
            <a:ext cx="3479750" cy="2215157"/>
          </a:xfrm>
          <a:prstGeom prst="roundRect">
            <a:avLst>
              <a:gd name="adj" fmla="val 5159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56050" y="2802433"/>
            <a:ext cx="3479750" cy="2215157"/>
          </a:xfrm>
          <a:prstGeom prst="roundRect">
            <a:avLst>
              <a:gd name="adj" fmla="val 5159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64400" y="2802433"/>
            <a:ext cx="3479750" cy="2215157"/>
          </a:xfrm>
          <a:prstGeom prst="roundRect">
            <a:avLst>
              <a:gd name="adj" fmla="val 5159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3088183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1800" y="3088183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0150" y="3088183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" y="3221533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5150" y="3221533"/>
            <a:ext cx="19050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3500" y="3221533"/>
            <a:ext cx="190500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39350" y="628650"/>
            <a:ext cx="14668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Space Grotesk"/>
              </a:rPr>
              <a:t>EXECUTIVE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571500"/>
            <a:ext cx="7715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62429"/>
                </a:solidFill>
                <a:latin typeface="Space Grotesk"/>
              </a:rPr>
              <a:t>01. MISSION BRIEFING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742950"/>
            <a:ext cx="8101012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Bangers"/>
              </a:rPr>
              <a:t>NAVIGATING THE CAREER SPIDER-VERSE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450" y="3697783"/>
            <a:ext cx="381707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Bangers"/>
              </a:rPr>
              <a:t>Choice Paralysis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450" y="4012108"/>
            <a:ext cx="30035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Space Grotesk"/>
              </a:rPr>
              <a:t>Students swing blindfolded through thousands of online resources without clear direction.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1800" y="3697783"/>
            <a:ext cx="381707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Bangers"/>
              </a:rPr>
              <a:t>Spider-Sense HUD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1800" y="4012108"/>
            <a:ext cx="30035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Space Grotesk"/>
              </a:rPr>
              <a:t>Pathwise analyzes skill levels against real market expectations in real time.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0150" y="3697783"/>
            <a:ext cx="381707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Bangers"/>
              </a:rPr>
              <a:t>Targeted Leap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0150" y="4012108"/>
            <a:ext cx="30035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Space Grotesk"/>
              </a:rPr>
              <a:t>Transforms static curricula into actionable weekly milestones tailored to availability.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86450" y="2786062"/>
            <a:ext cx="5657850" cy="2247900"/>
          </a:xfrm>
          <a:prstGeom prst="roundRect">
            <a:avLst>
              <a:gd name="adj" fmla="val 6779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7700" y="2714625"/>
            <a:ext cx="4933950" cy="695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7700" y="3562350"/>
            <a:ext cx="4933950" cy="695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" y="4410075"/>
            <a:ext cx="4933950" cy="695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7700" y="2714625"/>
            <a:ext cx="38100" cy="695325"/>
          </a:xfrm>
          <a:prstGeom prst="rect">
            <a:avLst/>
          </a:prstGeom>
          <a:solidFill>
            <a:srgbClr val="E62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7700" y="3562350"/>
            <a:ext cx="38100" cy="6953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7700" y="4410075"/>
            <a:ext cx="38100" cy="69532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8675" y="3148012"/>
            <a:ext cx="533400" cy="53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7700" y="571500"/>
            <a:ext cx="115443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62429"/>
                </a:solidFill>
                <a:latin typeface="Space Grotesk"/>
              </a:rPr>
              <a:t>02. THE VILLAIN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742950"/>
            <a:ext cx="115443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Bangers"/>
              </a:rPr>
              <a:t>CAREER BLINDSPOTS FOR STUDENTS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77470" y="3833812"/>
            <a:ext cx="6475809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Bangers"/>
              </a:rPr>
              <a:t>82% of Engineering Freshmen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31656" y="4233862"/>
            <a:ext cx="6167437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Space Grotesk"/>
              </a:rPr>
              <a:t>Report feeling completely unguided on how to transition from academic coursework to landed tech offers.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2714625"/>
            <a:ext cx="61757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Bangers"/>
              </a:rPr>
              <a:t>Unclear Benchmark Expectations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2971800"/>
            <a:ext cx="48006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Students study subjects like DBMS or C++ without knowing industry standards.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3562350"/>
            <a:ext cx="61757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Bangers"/>
              </a:rPr>
              <a:t>Self-Assessment Disconnect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3819525"/>
            <a:ext cx="48006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Difficulty gauging how academic grades translate into practical job readiness.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300" y="4410075"/>
            <a:ext cx="617577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Bangers"/>
              </a:rPr>
              <a:t>Rigid One-Size Schedules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" y="4667250"/>
            <a:ext cx="48006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Generic courses ignore whether a learner has 5 or 15 hours available weekly.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7700" y="3248025"/>
            <a:ext cx="3479750" cy="1323975"/>
          </a:xfrm>
          <a:prstGeom prst="roundRect">
            <a:avLst>
              <a:gd name="adj" fmla="val 86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56050" y="3248025"/>
            <a:ext cx="3479750" cy="1323975"/>
          </a:xfrm>
          <a:prstGeom prst="roundRect">
            <a:avLst>
              <a:gd name="adj" fmla="val 86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64400" y="3138487"/>
            <a:ext cx="3479750" cy="154305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7700" y="3248025"/>
            <a:ext cx="3479750" cy="38100"/>
          </a:xfrm>
          <a:prstGeom prst="rect">
            <a:avLst/>
          </a:prstGeom>
          <a:solidFill>
            <a:srgbClr val="E62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56050" y="3248025"/>
            <a:ext cx="347975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64400" y="3138487"/>
            <a:ext cx="347975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700" y="571500"/>
            <a:ext cx="115443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03. SPIDER-SENSE 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742950"/>
            <a:ext cx="115443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Bangers"/>
              </a:rPr>
              <a:t>HOW PATHWISE POWERS UP LEARNERS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52825"/>
            <a:ext cx="38670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Bangers"/>
              </a:rPr>
              <a:t>Interactive Skill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67150"/>
            <a:ext cx="30416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Calculates match percentage against target roles in real 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2750" y="3552825"/>
            <a:ext cx="386708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Bangers"/>
              </a:rPr>
              <a:t>SFIA &amp; O*NET Mapping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2750" y="3867150"/>
            <a:ext cx="30416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Uses verified global occupational taxonomies for skill profiling.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1100" y="3443287"/>
            <a:ext cx="386089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Bangers"/>
              </a:rPr>
              <a:t>Adaptive Timelines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1100" y="3757612"/>
            <a:ext cx="304160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Recalculates completion targets based on weekly available study hours.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7700" y="3100387"/>
            <a:ext cx="3479750" cy="1619250"/>
          </a:xfrm>
          <a:prstGeom prst="roundRect">
            <a:avLst>
              <a:gd name="adj" fmla="val 7058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56050" y="3100387"/>
            <a:ext cx="3479750" cy="1619250"/>
          </a:xfrm>
          <a:prstGeom prst="roundRect">
            <a:avLst>
              <a:gd name="adj" fmla="val 7058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64400" y="3100387"/>
            <a:ext cx="3479750" cy="1619250"/>
          </a:xfrm>
          <a:prstGeom prst="roundRect">
            <a:avLst>
              <a:gd name="adj" fmla="val 7058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3450" y="3367087"/>
            <a:ext cx="704850" cy="247650"/>
          </a:xfrm>
          <a:prstGeom prst="roundRect">
            <a:avLst>
              <a:gd name="adj" fmla="val 15384"/>
            </a:avLst>
          </a:prstGeom>
          <a:solidFill>
            <a:srgbClr val="E62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41800" y="3367087"/>
            <a:ext cx="723900" cy="247650"/>
          </a:xfrm>
          <a:prstGeom prst="roundRect">
            <a:avLst>
              <a:gd name="adj" fmla="val 15384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50150" y="3367087"/>
            <a:ext cx="723900" cy="247650"/>
          </a:xfrm>
          <a:prstGeom prst="roundRect">
            <a:avLst>
              <a:gd name="adj" fmla="val 15384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700" y="571500"/>
            <a:ext cx="115443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62429"/>
                </a:solidFill>
                <a:latin typeface="Space Grotesk"/>
              </a:rPr>
              <a:t>04. CURRICULUM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742950"/>
            <a:ext cx="115443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Bangers"/>
              </a:rPr>
              <a:t>B.TECH CSE 1ST &amp; 2ND YEAR SUBJECTS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" y="3405187"/>
            <a:ext cx="6096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Space Grotesk"/>
              </a:rPr>
              <a:t>YEAR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450" y="3700462"/>
            <a:ext cx="381707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Bangers"/>
              </a:rPr>
              <a:t>C / C++ Fundamentals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3995737"/>
            <a:ext cx="30035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Pointers, memory management, and initial algorithms.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7050" y="3405187"/>
            <a:ext cx="6286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Space Grotesk"/>
              </a:rPr>
              <a:t>YEAR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1800" y="3700462"/>
            <a:ext cx="381707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Bangers"/>
              </a:rPr>
              <a:t>DBMS &amp; SQL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1800" y="3995737"/>
            <a:ext cx="30035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Normalization, ACID transactions, and query tuning.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5400" y="3405187"/>
            <a:ext cx="6286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Space Grotesk"/>
              </a:rPr>
              <a:t>YEAR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0150" y="3700462"/>
            <a:ext cx="381707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Bangers"/>
              </a:rPr>
              <a:t>Operating Systems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0150" y="3995737"/>
            <a:ext cx="30035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Process scheduling, memory paging, and concurrency.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7700" y="571500"/>
            <a:ext cx="115443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Bangers"/>
              </a:rPr>
              <a:t>READINESS ACCELERATION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81575" y="2962275"/>
            <a:ext cx="2786062" cy="1066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b="1" sz="8400" i="0" u="none">
                <a:solidFill>
                  <a:srgbClr val="E62429"/>
                </a:solidFill>
                <a:latin typeface="Space Grotesk"/>
              </a:rPr>
              <a:t>3.5x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7406" y="4181475"/>
            <a:ext cx="797718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475569"/>
                </a:solidFill>
                <a:latin typeface="Space Grotesk"/>
              </a:rPr>
              <a:t>Faster transition from core coursework to internship readiness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7700" y="3076575"/>
            <a:ext cx="3479750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56050" y="3076575"/>
            <a:ext cx="3479750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64400" y="3076575"/>
            <a:ext cx="3479750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352800"/>
            <a:ext cx="333375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275" y="3352800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0625" y="3352800"/>
            <a:ext cx="2667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7700" y="571500"/>
            <a:ext cx="115443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05. TARGET DESTINATIONS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742950"/>
            <a:ext cx="115443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Bangers"/>
              </a:rPr>
              <a:t>CAREER TRACKS ACCELERATED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733800"/>
            <a:ext cx="384208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Bangers"/>
              </a:rPr>
              <a:t>Software Dev (SDE-1)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029075"/>
            <a:ext cx="30225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Core algorithms, data structures, and system logic.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2275" y="3733800"/>
            <a:ext cx="384208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Bangers"/>
              </a:rPr>
              <a:t>Backend Engineer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2275" y="4029075"/>
            <a:ext cx="30225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Relational databases, REST APIs, and microservices.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0625" y="3733800"/>
            <a:ext cx="384208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Bangers"/>
              </a:rPr>
              <a:t>AI / ML Engineer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0625" y="4029075"/>
            <a:ext cx="30225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Python pipelines, neural networks, and model deployment.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91225" y="2681287"/>
            <a:ext cx="5553075" cy="2457450"/>
          </a:xfrm>
          <a:prstGeom prst="roundRect">
            <a:avLst>
              <a:gd name="adj" fmla="val 6201"/>
            </a:avLst>
          </a:prstGeom>
          <a:solidFill>
            <a:srgbClr val="0F172A"/>
          </a:solidFill>
          <a:ln w="28575">
            <a:solidFill>
              <a:srgbClr val="E62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7700" y="2747962"/>
            <a:ext cx="4886325" cy="1085850"/>
          </a:xfrm>
          <a:prstGeom prst="roundRect">
            <a:avLst>
              <a:gd name="adj" fmla="val 877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7700" y="3986212"/>
            <a:ext cx="4886325" cy="1085850"/>
          </a:xfrm>
          <a:prstGeom prst="roundRect">
            <a:avLst>
              <a:gd name="adj" fmla="val 877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24600" y="4395787"/>
            <a:ext cx="4886325" cy="409575"/>
          </a:xfrm>
          <a:prstGeom prst="roundRect">
            <a:avLst>
              <a:gd name="adj" fmla="val 1860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957512"/>
            <a:ext cx="185737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4195762"/>
            <a:ext cx="185737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7700" y="571500"/>
            <a:ext cx="115443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62429"/>
                </a:solidFill>
                <a:latin typeface="Space Grotesk"/>
              </a:rPr>
              <a:t>06. PRODUCT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742950"/>
            <a:ext cx="115443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Bangers"/>
              </a:rPr>
              <a:t>LIVE APP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6025" y="2986087"/>
            <a:ext cx="5038725" cy="1847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CC00"/>
                </a:solidFill>
                <a:latin typeface="Space Grotesk"/>
              </a:rPr>
              <a:t>LIVE APP WORKSPACE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600" y="3328987"/>
            <a:ext cx="58674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FFFFFF"/>
                </a:solidFill>
                <a:latin typeface="Bangers"/>
              </a:rPr>
              <a:t>AI-Career-Navigator.html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600" y="3729037"/>
            <a:ext cx="498157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Space Grotesk"/>
              </a:rPr>
              <a:t>Complete student portal with skill mapping, dashboard analytics, and assistant.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0" y="4510087"/>
            <a:ext cx="46767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8BDF8"/>
                </a:solidFill>
                <a:latin typeface="monospace"/>
              </a:rPr>
              <a:t>Local File Deployment 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2947987"/>
            <a:ext cx="5888235" cy="209550"/>
          </a:xfrm>
          <a:prstGeom prst="rect">
            <a:avLst/>
          </a:prstGeom>
          <a:noFill/>
        </p:spPr>
        <p:txBody>
          <a:bodyPr wrap="none" lIns="185737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Bangers"/>
              </a:rPr>
              <a:t>Zero-Latency Single 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195637"/>
            <a:ext cx="45815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Lightweight, browser-native performance with local data saving.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4186237"/>
            <a:ext cx="5888235" cy="209550"/>
          </a:xfrm>
          <a:prstGeom prst="rect">
            <a:avLst/>
          </a:prstGeom>
          <a:noFill/>
        </p:spPr>
        <p:txBody>
          <a:bodyPr wrap="none" lIns="185737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Bangers"/>
              </a:rPr>
              <a:t>Privacy-First 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4433887"/>
            <a:ext cx="45815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Client-side calculations keep student data strictly on-device.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7700" y="2747962"/>
            <a:ext cx="5295900" cy="2324100"/>
          </a:xfrm>
          <a:prstGeom prst="roundRect">
            <a:avLst>
              <a:gd name="adj" fmla="val 4918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747962"/>
            <a:ext cx="5295900" cy="2324100"/>
          </a:xfrm>
          <a:prstGeom prst="roundRect">
            <a:avLst>
              <a:gd name="adj" fmla="val 4918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3071812"/>
            <a:ext cx="285750" cy="38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0" y="3071812"/>
            <a:ext cx="333375" cy="38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7700" y="571500"/>
            <a:ext cx="115443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07. INTAKE &amp; FEEDBACK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700" y="742950"/>
            <a:ext cx="115443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Bangers"/>
              </a:rPr>
              <a:t>EMBEDDED RESPONSE 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3052762"/>
            <a:ext cx="4781550" cy="171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 Open Google Form ↗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200" y="3052762"/>
            <a:ext cx="4781550" cy="171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000" i="0" u="none">
                <a:solidFill>
                  <a:srgbClr val="0284C7"/>
                </a:solidFill>
                <a:latin typeface="Space Grotesk"/>
              </a:rPr>
              <a:t> </a:t>
            </a:r>
            <a:r>
              <a:rPr b="1" sz="1050" i="0" u="none">
                <a:solidFill>
                  <a:srgbClr val="0284C7"/>
                </a:solidFill>
                <a:latin typeface="Space Grotesk"/>
              </a:rPr>
              <a:t> linkedin.com/in/lakshya-shekhawat ↗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3605212"/>
            <a:ext cx="610076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Bangers"/>
              </a:rPr>
              <a:t>Candidate Intake 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550" y="3919537"/>
            <a:ext cx="47434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Directly embedded Google Form survey for capturing student feedback and onboarding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2250" y="3605212"/>
            <a:ext cx="56197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Bangers"/>
              </a:rPr>
              <a:t>Developer Connect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2250" y="3919537"/>
            <a:ext cx="5619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Space Grotesk"/>
              </a:rPr>
              <a:t>Lead Developer profile and professional updates.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2250" y="4214812"/>
            <a:ext cx="5619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Lakshya Shekhawat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7700" y="3019425"/>
            <a:ext cx="3479750" cy="1781175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56050" y="3019425"/>
            <a:ext cx="3479750" cy="1781175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64400" y="3019425"/>
            <a:ext cx="3479750" cy="1781175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216050" y="32956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62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24401" y="32956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32751" y="32956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700" y="571500"/>
            <a:ext cx="115443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E62429"/>
                </a:solidFill>
                <a:latin typeface="Space Grotesk"/>
              </a:rPr>
              <a:t>08. METHODOLOGY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742950"/>
            <a:ext cx="115443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Bangers"/>
              </a:rPr>
              <a:t>3 STEPS FROM GOAL TO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73175" y="329565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Space Grotesk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534" y="3790950"/>
            <a:ext cx="384208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Bangers"/>
              </a:rPr>
              <a:t>Skill Audit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012" y="4086225"/>
            <a:ext cx="36591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Space Grotesk"/>
              </a:rPr>
              <a:t>Self-assess academic coursework and practical skills.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1526" y="329565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Space Grotesk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74884" y="3790950"/>
            <a:ext cx="384208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Bangers"/>
              </a:rPr>
              <a:t>Gap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6362" y="4086225"/>
            <a:ext cx="36591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Space Grotesk"/>
              </a:rPr>
              <a:t>Compare profile against target SFIA/O*NET job requirements.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89876" y="329565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8FAFC"/>
                </a:solidFill>
                <a:latin typeface="Space Grotesk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83235" y="3790950"/>
            <a:ext cx="384208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Bangers"/>
              </a:rPr>
              <a:t>Roadmap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4713" y="4086225"/>
            <a:ext cx="36591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475569"/>
                </a:solidFill>
                <a:latin typeface="Space Grotesk"/>
              </a:rPr>
              <a:t>Execute weekly milestones fitted to study availability.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7700" y="2800350"/>
            <a:ext cx="10896600" cy="2143125"/>
          </a:xfrm>
          <a:prstGeom prst="roundRect">
            <a:avLst>
              <a:gd name="adj" fmla="val 0"/>
            </a:avLst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7700" y="2800350"/>
          <a:ext cx="10887074" cy="21431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003500"/>
                <a:gridCol w="4309616"/>
                <a:gridCol w="3573958"/>
              </a:tblGrid>
              <a:tr h="535781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Space Grotesk"/>
                        </a:rPr>
                        <a:t>Asset Name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Space Grotesk"/>
                        </a:rPr>
                        <a:t>Resource Description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Space Grotesk"/>
                        </a:rPr>
                        <a:t>Access Location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Space Grotesk"/>
                        </a:rPr>
                        <a:t>Lead Developer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Space Grotesk"/>
                        </a:rPr>
                        <a:t>LinkedIn Profile &amp; Professional Bio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284C7"/>
                          </a:solidFill>
                          <a:latin typeface="Space Grotesk"/>
                        </a:rPr>
                        <a:t>Lakshya Shekhawat ↗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Space Grotesk"/>
                        </a:rPr>
                        <a:t>Live Web Application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Space Grotesk"/>
                        </a:rPr>
                        <a:t>Pathwise Single-Page Application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E62429"/>
                          </a:solidFill>
                          <a:latin typeface="Space Grotesk"/>
                        </a:rPr>
                        <a:t>AI-Career-Navigator.html ↗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35782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Space Grotesk"/>
                        </a:rPr>
                        <a:t>Feedback &amp; Evaluation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Space Grotesk"/>
                        </a:rPr>
                        <a:t>Candidate Intake Google Form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D97706"/>
                          </a:solidFill>
                          <a:latin typeface="Space Grotesk"/>
                        </a:rPr>
                        <a:t>Google Form Survey ↗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7700" y="571500"/>
            <a:ext cx="115443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Space Grotesk"/>
              </a:rPr>
              <a:t>09. RESOURCE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7700" y="742950"/>
            <a:ext cx="115443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Bangers"/>
              </a:rPr>
              <a:t>PROJECT ASSETS &amp; LINKS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0C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2614612" y="4267200"/>
            <a:ext cx="2400300" cy="485775"/>
          </a:xfrm>
          <a:prstGeom prst="roundRect">
            <a:avLst>
              <a:gd name="adj" fmla="val 15686"/>
            </a:avLst>
          </a:prstGeom>
          <a:solidFill>
            <a:srgbClr val="0077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243512" y="4267200"/>
            <a:ext cx="2295525" cy="485775"/>
          </a:xfrm>
          <a:prstGeom prst="roundRect">
            <a:avLst>
              <a:gd name="adj" fmla="val 15686"/>
            </a:avLst>
          </a:prstGeom>
          <a:solidFill>
            <a:srgbClr val="E62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67637" y="4267200"/>
            <a:ext cx="1809750" cy="485775"/>
          </a:xfrm>
          <a:prstGeom prst="roundRect">
            <a:avLst>
              <a:gd name="adj" fmla="val 15686"/>
            </a:avLst>
          </a:prstGeom>
          <a:solidFill>
            <a:srgbClr val="FFC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1312" y="4424362"/>
            <a:ext cx="15240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0212" y="4424362"/>
            <a:ext cx="17145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4337" y="4424362"/>
            <a:ext cx="152400" cy="17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12468" y="2105025"/>
            <a:ext cx="31670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FCC00"/>
                </a:solidFill>
                <a:latin typeface="Space Grotesk"/>
              </a:rPr>
              <a:t>READY TO TAKE THE LEAP?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3497" y="2476500"/>
            <a:ext cx="10045005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400"/>
              </a:lnSpc>
              <a:defRPr/>
            </a:pPr>
            <a:r>
              <a:rPr b="1" sz="5400" i="0" u="none">
                <a:solidFill>
                  <a:srgbClr val="FFFFFF"/>
                </a:solidFill>
                <a:latin typeface="Bangers"/>
              </a:rPr>
              <a:t>THANK YOU! QUESTIONS &amp;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47875" y="3390900"/>
            <a:ext cx="80962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CBD5E1"/>
                </a:solidFill>
                <a:latin typeface="Space Grotesk"/>
              </a:rPr>
              <a:t>Small steps today. A stronger career tomorrow. Experience Pathwise live in your browser.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8925" y="4400550"/>
            <a:ext cx="2219325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Space Grotesk"/>
              </a:rPr>
              <a:t> Lakshya Shekhawat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9971" y="4400550"/>
            <a:ext cx="2069306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Space Grotesk"/>
              </a:rPr>
              <a:t>Pathwise Web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55768" y="4400550"/>
            <a:ext cx="1481137" cy="2190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Space Grotesk"/>
              </a:rPr>
              <a:t>Google Form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90600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609600"/>
            <a:ext cx="181897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Bangers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04975" y="1023937"/>
            <a:ext cx="660796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Space Grotesk"/>
              </a:rPr>
              <a:t>https://blog.cdn.own3d.tv/resize=fit:crop,height:400,width:600/x1xbmwbKTdiQ7B4dUfJ3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04975" y="1233487"/>
            <a:ext cx="21193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Space Grotesk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Space Grotesk"/>
              </a:rPr>
              <a:t>www.own3d.tv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